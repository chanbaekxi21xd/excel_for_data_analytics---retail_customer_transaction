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nva Sans Bold" panose="020B0803030501040103" pitchFamily="34" charset="0"/>
      <p:regular r:id="rId7"/>
    </p:embeddedFont>
    <p:embeddedFont>
      <p:font typeface="Red Hat Display" panose="02010503040201060303" pitchFamily="2" charset="0"/>
      <p:regular r:id="rId8"/>
    </p:embeddedFont>
    <p:embeddedFont>
      <p:font typeface="Red Hat Display Bold" panose="02010803040201060303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font" Target="fonts/font1.fntdata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font" Target="fonts/font3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7" Type="http://schemas.openxmlformats.org/officeDocument/2006/relationships/image" Target="../media/image10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.png" /><Relationship Id="rId5" Type="http://schemas.openxmlformats.org/officeDocument/2006/relationships/image" Target="../media/image8.svg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3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9" t="-1489" b="-2070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311041" y="1757409"/>
            <a:ext cx="10159185" cy="7500891"/>
            <a:chOff x="0" y="0"/>
            <a:chExt cx="2675670" cy="1975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75670" cy="1975543"/>
            </a:xfrm>
            <a:custGeom>
              <a:avLst/>
              <a:gdLst/>
              <a:ahLst/>
              <a:cxnLst/>
              <a:rect l="l" t="t" r="r" b="b"/>
              <a:pathLst>
                <a:path w="2675670" h="1975543">
                  <a:moveTo>
                    <a:pt x="43437" y="0"/>
                  </a:moveTo>
                  <a:lnTo>
                    <a:pt x="2632233" y="0"/>
                  </a:lnTo>
                  <a:cubicBezTo>
                    <a:pt x="2656223" y="0"/>
                    <a:pt x="2675670" y="19448"/>
                    <a:pt x="2675670" y="43437"/>
                  </a:cubicBezTo>
                  <a:lnTo>
                    <a:pt x="2675670" y="1932106"/>
                  </a:lnTo>
                  <a:cubicBezTo>
                    <a:pt x="2675670" y="1943626"/>
                    <a:pt x="2671094" y="1954675"/>
                    <a:pt x="2662948" y="1962821"/>
                  </a:cubicBezTo>
                  <a:cubicBezTo>
                    <a:pt x="2654802" y="1970967"/>
                    <a:pt x="2643753" y="1975543"/>
                    <a:pt x="2632233" y="1975543"/>
                  </a:cubicBezTo>
                  <a:lnTo>
                    <a:pt x="43437" y="1975543"/>
                  </a:lnTo>
                  <a:cubicBezTo>
                    <a:pt x="19448" y="1975543"/>
                    <a:pt x="0" y="1956096"/>
                    <a:pt x="0" y="1932106"/>
                  </a:cubicBezTo>
                  <a:lnTo>
                    <a:pt x="0" y="43437"/>
                  </a:lnTo>
                  <a:cubicBezTo>
                    <a:pt x="0" y="19448"/>
                    <a:pt x="19448" y="0"/>
                    <a:pt x="4343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675670" cy="2013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791703" y="4994809"/>
            <a:ext cx="4204011" cy="883785"/>
            <a:chOff x="0" y="0"/>
            <a:chExt cx="1107229" cy="23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7229" cy="232766"/>
            </a:xfrm>
            <a:custGeom>
              <a:avLst/>
              <a:gdLst/>
              <a:ahLst/>
              <a:cxnLst/>
              <a:rect l="l" t="t" r="r" b="b"/>
              <a:pathLst>
                <a:path w="1107229" h="232766">
                  <a:moveTo>
                    <a:pt x="93919" y="0"/>
                  </a:moveTo>
                  <a:lnTo>
                    <a:pt x="1013310" y="0"/>
                  </a:lnTo>
                  <a:cubicBezTo>
                    <a:pt x="1065180" y="0"/>
                    <a:pt x="1107229" y="42049"/>
                    <a:pt x="1107229" y="93919"/>
                  </a:cubicBezTo>
                  <a:lnTo>
                    <a:pt x="1107229" y="138847"/>
                  </a:lnTo>
                  <a:cubicBezTo>
                    <a:pt x="1107229" y="163756"/>
                    <a:pt x="1097334" y="187645"/>
                    <a:pt x="1079721" y="205258"/>
                  </a:cubicBezTo>
                  <a:cubicBezTo>
                    <a:pt x="1062108" y="222871"/>
                    <a:pt x="1038219" y="232766"/>
                    <a:pt x="1013310" y="232766"/>
                  </a:cubicBezTo>
                  <a:lnTo>
                    <a:pt x="93919" y="232766"/>
                  </a:lnTo>
                  <a:cubicBezTo>
                    <a:pt x="69010" y="232766"/>
                    <a:pt x="45122" y="222871"/>
                    <a:pt x="27508" y="205258"/>
                  </a:cubicBezTo>
                  <a:cubicBezTo>
                    <a:pt x="9895" y="187645"/>
                    <a:pt x="0" y="163756"/>
                    <a:pt x="0" y="138847"/>
                  </a:cubicBezTo>
                  <a:lnTo>
                    <a:pt x="0" y="93919"/>
                  </a:lnTo>
                  <a:cubicBezTo>
                    <a:pt x="0" y="69010"/>
                    <a:pt x="9895" y="45122"/>
                    <a:pt x="27508" y="27508"/>
                  </a:cubicBezTo>
                  <a:cubicBezTo>
                    <a:pt x="45122" y="9895"/>
                    <a:pt x="69010" y="0"/>
                    <a:pt x="9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89C0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07229" cy="270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848662" y="2296854"/>
            <a:ext cx="9083944" cy="241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26"/>
              </a:lnSpc>
            </a:pPr>
            <a:r>
              <a:rPr lang="en-US" sz="95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Retail Customer &amp; Transaction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8656" y="6652767"/>
            <a:ext cx="2310688" cy="48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75"/>
              </a:lnSpc>
            </a:pPr>
            <a:r>
              <a:rPr lang="en-US" sz="283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Integrantes: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0002" y="6643242"/>
            <a:ext cx="6669298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3915"/>
              </a:lnSpc>
              <a:buFont typeface="Arial"/>
              <a:buChar char="•"/>
            </a:pPr>
            <a:r>
              <a:rPr lang="en-US" sz="27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GARCIA ANCHUNDIA KENNETH</a:t>
            </a:r>
          </a:p>
          <a:p>
            <a:pPr marL="582930" lvl="1" indent="-291465" algn="just">
              <a:lnSpc>
                <a:spcPts val="3915"/>
              </a:lnSpc>
              <a:buFont typeface="Arial"/>
              <a:buChar char="•"/>
            </a:pPr>
            <a:r>
              <a:rPr lang="en-US" sz="27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MACIAS URGILES ANGELICA</a:t>
            </a:r>
          </a:p>
          <a:p>
            <a:pPr marL="582930" lvl="1" indent="-291465" algn="just">
              <a:lnSpc>
                <a:spcPts val="3915"/>
              </a:lnSpc>
              <a:buFont typeface="Arial"/>
              <a:buChar char="•"/>
            </a:pPr>
            <a:r>
              <a:rPr lang="en-US" sz="27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RODRIGUEZ BUSTAMANTE EMILY</a:t>
            </a:r>
          </a:p>
          <a:p>
            <a:pPr marL="582930" lvl="1" indent="-291465" algn="just">
              <a:lnSpc>
                <a:spcPts val="3915"/>
              </a:lnSpc>
              <a:buFont typeface="Arial"/>
              <a:buChar char="•"/>
            </a:pPr>
            <a:r>
              <a:rPr lang="en-US" sz="27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VINUEZA GUTIERREZ ALLISON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4811" y="5170637"/>
            <a:ext cx="4077795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Grupo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4459" y="727209"/>
            <a:ext cx="2608542" cy="883785"/>
            <a:chOff x="0" y="0"/>
            <a:chExt cx="3478056" cy="1178379"/>
          </a:xfrm>
        </p:grpSpPr>
        <p:grpSp>
          <p:nvGrpSpPr>
            <p:cNvPr id="3" name="Group 3"/>
            <p:cNvGrpSpPr/>
            <p:nvPr/>
          </p:nvGrpSpPr>
          <p:grpSpPr>
            <a:xfrm>
              <a:off x="26665" y="0"/>
              <a:ext cx="3424725" cy="1178379"/>
              <a:chOff x="0" y="0"/>
              <a:chExt cx="676489" cy="2327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76489" cy="232766"/>
              </a:xfrm>
              <a:custGeom>
                <a:avLst/>
                <a:gdLst/>
                <a:ahLst/>
                <a:cxnLst/>
                <a:rect l="l" t="t" r="r" b="b"/>
                <a:pathLst>
                  <a:path w="676489" h="232766">
                    <a:moveTo>
                      <a:pt x="116383" y="0"/>
                    </a:moveTo>
                    <a:lnTo>
                      <a:pt x="560106" y="0"/>
                    </a:lnTo>
                    <a:cubicBezTo>
                      <a:pt x="624382" y="0"/>
                      <a:pt x="676489" y="52107"/>
                      <a:pt x="676489" y="116383"/>
                    </a:cubicBezTo>
                    <a:lnTo>
                      <a:pt x="676489" y="116383"/>
                    </a:lnTo>
                    <a:cubicBezTo>
                      <a:pt x="676489" y="147250"/>
                      <a:pt x="664227" y="176852"/>
                      <a:pt x="642401" y="198678"/>
                    </a:cubicBezTo>
                    <a:cubicBezTo>
                      <a:pt x="620575" y="220505"/>
                      <a:pt x="590972" y="232766"/>
                      <a:pt x="560106" y="232766"/>
                    </a:cubicBezTo>
                    <a:lnTo>
                      <a:pt x="116383" y="232766"/>
                    </a:lnTo>
                    <a:cubicBezTo>
                      <a:pt x="52107" y="232766"/>
                      <a:pt x="0" y="180660"/>
                      <a:pt x="0" y="116383"/>
                    </a:cubicBezTo>
                    <a:lnTo>
                      <a:pt x="0" y="116383"/>
                    </a:lnTo>
                    <a:cubicBezTo>
                      <a:pt x="0" y="52107"/>
                      <a:pt x="52107" y="0"/>
                      <a:pt x="11638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89C0FF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676489" cy="2708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227240"/>
              <a:ext cx="3478056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89C0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2020-2025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8903" y="2260640"/>
            <a:ext cx="12895556" cy="7827506"/>
            <a:chOff x="0" y="0"/>
            <a:chExt cx="17194075" cy="1043667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7194075" cy="10436675"/>
              <a:chOff x="0" y="0"/>
              <a:chExt cx="3725541" cy="226137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725541" cy="2261376"/>
              </a:xfrm>
              <a:custGeom>
                <a:avLst/>
                <a:gdLst/>
                <a:ahLst/>
                <a:cxnLst/>
                <a:rect l="l" t="t" r="r" b="b"/>
                <a:pathLst>
                  <a:path w="3725541" h="2261376">
                    <a:moveTo>
                      <a:pt x="43226" y="0"/>
                    </a:moveTo>
                    <a:lnTo>
                      <a:pt x="3682316" y="0"/>
                    </a:lnTo>
                    <a:cubicBezTo>
                      <a:pt x="3693780" y="0"/>
                      <a:pt x="3704774" y="4554"/>
                      <a:pt x="3712881" y="12660"/>
                    </a:cubicBezTo>
                    <a:cubicBezTo>
                      <a:pt x="3720987" y="20767"/>
                      <a:pt x="3725541" y="31761"/>
                      <a:pt x="3725541" y="43226"/>
                    </a:cubicBezTo>
                    <a:lnTo>
                      <a:pt x="3725541" y="2218150"/>
                    </a:lnTo>
                    <a:cubicBezTo>
                      <a:pt x="3725541" y="2242023"/>
                      <a:pt x="3706189" y="2261376"/>
                      <a:pt x="3682316" y="2261376"/>
                    </a:cubicBezTo>
                    <a:lnTo>
                      <a:pt x="43226" y="2261376"/>
                    </a:lnTo>
                    <a:cubicBezTo>
                      <a:pt x="31761" y="2261376"/>
                      <a:pt x="20767" y="2256821"/>
                      <a:pt x="12660" y="2248715"/>
                    </a:cubicBezTo>
                    <a:cubicBezTo>
                      <a:pt x="4554" y="2240609"/>
                      <a:pt x="0" y="2229614"/>
                      <a:pt x="0" y="2218150"/>
                    </a:cubicBezTo>
                    <a:lnTo>
                      <a:pt x="0" y="43226"/>
                    </a:lnTo>
                    <a:cubicBezTo>
                      <a:pt x="0" y="19353"/>
                      <a:pt x="19353" y="0"/>
                      <a:pt x="43226" y="0"/>
                    </a:cubicBez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3725541" cy="2299476"/>
              </a:xfrm>
              <a:prstGeom prst="rect">
                <a:avLst/>
              </a:prstGeom>
            </p:spPr>
            <p:txBody>
              <a:bodyPr lIns="46311" tIns="46311" rIns="46311" bIns="46311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181439" y="-1212153"/>
              <a:ext cx="19556954" cy="12860981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3855739" y="4143967"/>
            <a:ext cx="4027120" cy="2373207"/>
            <a:chOff x="0" y="0"/>
            <a:chExt cx="5369493" cy="3164275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369493" cy="3164275"/>
              <a:chOff x="0" y="0"/>
              <a:chExt cx="1103840" cy="650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03840" cy="650500"/>
              </a:xfrm>
              <a:custGeom>
                <a:avLst/>
                <a:gdLst/>
                <a:ahLst/>
                <a:cxnLst/>
                <a:rect l="l" t="t" r="r" b="b"/>
                <a:pathLst>
                  <a:path w="1103840" h="650500">
                    <a:moveTo>
                      <a:pt x="61675" y="0"/>
                    </a:moveTo>
                    <a:lnTo>
                      <a:pt x="1042165" y="0"/>
                    </a:lnTo>
                    <a:cubicBezTo>
                      <a:pt x="1076228" y="0"/>
                      <a:pt x="1103840" y="27613"/>
                      <a:pt x="1103840" y="61675"/>
                    </a:cubicBezTo>
                    <a:lnTo>
                      <a:pt x="1103840" y="588825"/>
                    </a:lnTo>
                    <a:cubicBezTo>
                      <a:pt x="1103840" y="605182"/>
                      <a:pt x="1097343" y="620870"/>
                      <a:pt x="1085776" y="632436"/>
                    </a:cubicBezTo>
                    <a:cubicBezTo>
                      <a:pt x="1074210" y="644002"/>
                      <a:pt x="1058523" y="650500"/>
                      <a:pt x="1042165" y="650500"/>
                    </a:cubicBezTo>
                    <a:lnTo>
                      <a:pt x="61675" y="650500"/>
                    </a:lnTo>
                    <a:cubicBezTo>
                      <a:pt x="27613" y="650500"/>
                      <a:pt x="0" y="622887"/>
                      <a:pt x="0" y="588825"/>
                    </a:cubicBezTo>
                    <a:lnTo>
                      <a:pt x="0" y="61675"/>
                    </a:lnTo>
                    <a:cubicBezTo>
                      <a:pt x="0" y="27613"/>
                      <a:pt x="27613" y="0"/>
                      <a:pt x="61675" y="0"/>
                    </a:cubicBezTo>
                    <a:close/>
                  </a:path>
                </a:pathLst>
              </a:custGeom>
              <a:solidFill>
                <a:srgbClr val="003A9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103840" cy="688600"/>
              </a:xfrm>
              <a:prstGeom prst="rect">
                <a:avLst/>
              </a:prstGeom>
            </p:spPr>
            <p:txBody>
              <a:bodyPr lIns="44123" tIns="44123" rIns="44123" bIns="44123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19642" y="1730172"/>
              <a:ext cx="2165105" cy="823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95"/>
                </a:lnSpc>
                <a:spcBef>
                  <a:spcPct val="0"/>
                </a:spcBef>
              </a:pPr>
              <a:r>
                <a:rPr lang="en-US" sz="3782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32 295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9642" y="354423"/>
              <a:ext cx="4330209" cy="1055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8"/>
                </a:lnSpc>
                <a:spcBef>
                  <a:spcPct val="0"/>
                </a:spcBef>
              </a:pPr>
              <a:r>
                <a:rPr lang="en-US" sz="232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Total general de Transacciones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123001" y="5330570"/>
            <a:ext cx="730962" cy="843823"/>
          </a:xfrm>
          <a:custGeom>
            <a:avLst/>
            <a:gdLst/>
            <a:ahLst/>
            <a:cxnLst/>
            <a:rect l="l" t="t" r="r" b="b"/>
            <a:pathLst>
              <a:path w="730962" h="843823">
                <a:moveTo>
                  <a:pt x="0" y="0"/>
                </a:moveTo>
                <a:lnTo>
                  <a:pt x="730962" y="0"/>
                </a:lnTo>
                <a:lnTo>
                  <a:pt x="730962" y="843823"/>
                </a:lnTo>
                <a:lnTo>
                  <a:pt x="0" y="8438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89543" y="675525"/>
            <a:ext cx="11025120" cy="1177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742"/>
              </a:lnSpc>
              <a:spcBef>
                <a:spcPct val="0"/>
              </a:spcBef>
            </a:pPr>
            <a:r>
              <a:rPr lang="en-US" sz="90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Gráficos d</a:t>
            </a:r>
            <a:r>
              <a:rPr lang="en-US" sz="9012" u="none" strike="noStrike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 ventas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4013" y="2304261"/>
            <a:ext cx="17819973" cy="7650758"/>
            <a:chOff x="0" y="0"/>
            <a:chExt cx="4693326" cy="2015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93326" cy="2015014"/>
            </a:xfrm>
            <a:custGeom>
              <a:avLst/>
              <a:gdLst/>
              <a:ahLst/>
              <a:cxnLst/>
              <a:rect l="l" t="t" r="r" b="b"/>
              <a:pathLst>
                <a:path w="4693326" h="2015014">
                  <a:moveTo>
                    <a:pt x="16075" y="0"/>
                  </a:moveTo>
                  <a:lnTo>
                    <a:pt x="4677252" y="0"/>
                  </a:lnTo>
                  <a:cubicBezTo>
                    <a:pt x="4681515" y="0"/>
                    <a:pt x="4685604" y="1694"/>
                    <a:pt x="4688618" y="4708"/>
                  </a:cubicBezTo>
                  <a:cubicBezTo>
                    <a:pt x="4691633" y="7723"/>
                    <a:pt x="4693326" y="11811"/>
                    <a:pt x="4693326" y="16075"/>
                  </a:cubicBezTo>
                  <a:lnTo>
                    <a:pt x="4693326" y="1998940"/>
                  </a:lnTo>
                  <a:cubicBezTo>
                    <a:pt x="4693326" y="2003203"/>
                    <a:pt x="4691633" y="2007292"/>
                    <a:pt x="4688618" y="2010306"/>
                  </a:cubicBezTo>
                  <a:cubicBezTo>
                    <a:pt x="4685604" y="2013321"/>
                    <a:pt x="4681515" y="2015014"/>
                    <a:pt x="4677252" y="2015014"/>
                  </a:cubicBezTo>
                  <a:lnTo>
                    <a:pt x="16075" y="2015014"/>
                  </a:lnTo>
                  <a:cubicBezTo>
                    <a:pt x="11811" y="2015014"/>
                    <a:pt x="7723" y="2013321"/>
                    <a:pt x="4708" y="2010306"/>
                  </a:cubicBezTo>
                  <a:cubicBezTo>
                    <a:pt x="1694" y="2007292"/>
                    <a:pt x="0" y="2003203"/>
                    <a:pt x="0" y="1998940"/>
                  </a:cubicBezTo>
                  <a:lnTo>
                    <a:pt x="0" y="16075"/>
                  </a:lnTo>
                  <a:cubicBezTo>
                    <a:pt x="0" y="11811"/>
                    <a:pt x="1694" y="7723"/>
                    <a:pt x="4708" y="4708"/>
                  </a:cubicBezTo>
                  <a:cubicBezTo>
                    <a:pt x="7723" y="1694"/>
                    <a:pt x="11811" y="0"/>
                    <a:pt x="1607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93326" cy="20531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86833"/>
            <a:ext cx="13974748" cy="1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129"/>
              </a:lnSpc>
              <a:spcBef>
                <a:spcPct val="0"/>
              </a:spcBef>
            </a:pPr>
            <a:r>
              <a:rPr lang="en-US" sz="94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Gráficos d</a:t>
            </a:r>
            <a:r>
              <a:rPr lang="en-US" sz="9412" u="none" strike="noStrike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 campañas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375997" y="858645"/>
            <a:ext cx="2511034" cy="883785"/>
            <a:chOff x="0" y="0"/>
            <a:chExt cx="3348045" cy="1178379"/>
          </a:xfrm>
        </p:grpSpPr>
        <p:grpSp>
          <p:nvGrpSpPr>
            <p:cNvPr id="7" name="Group 7"/>
            <p:cNvGrpSpPr/>
            <p:nvPr/>
          </p:nvGrpSpPr>
          <p:grpSpPr>
            <a:xfrm>
              <a:off x="25669" y="0"/>
              <a:ext cx="3296707" cy="1178379"/>
              <a:chOff x="0" y="0"/>
              <a:chExt cx="651201" cy="23276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51201" cy="232766"/>
              </a:xfrm>
              <a:custGeom>
                <a:avLst/>
                <a:gdLst/>
                <a:ahLst/>
                <a:cxnLst/>
                <a:rect l="l" t="t" r="r" b="b"/>
                <a:pathLst>
                  <a:path w="651201" h="232766">
                    <a:moveTo>
                      <a:pt x="116383" y="0"/>
                    </a:moveTo>
                    <a:lnTo>
                      <a:pt x="534818" y="0"/>
                    </a:lnTo>
                    <a:cubicBezTo>
                      <a:pt x="599095" y="0"/>
                      <a:pt x="651201" y="52107"/>
                      <a:pt x="651201" y="116383"/>
                    </a:cubicBezTo>
                    <a:lnTo>
                      <a:pt x="651201" y="116383"/>
                    </a:lnTo>
                    <a:cubicBezTo>
                      <a:pt x="651201" y="147250"/>
                      <a:pt x="638940" y="176852"/>
                      <a:pt x="617114" y="198678"/>
                    </a:cubicBezTo>
                    <a:cubicBezTo>
                      <a:pt x="595288" y="220505"/>
                      <a:pt x="565685" y="232766"/>
                      <a:pt x="534818" y="232766"/>
                    </a:cubicBezTo>
                    <a:lnTo>
                      <a:pt x="116383" y="232766"/>
                    </a:lnTo>
                    <a:cubicBezTo>
                      <a:pt x="52107" y="232766"/>
                      <a:pt x="0" y="180660"/>
                      <a:pt x="0" y="116383"/>
                    </a:cubicBezTo>
                    <a:lnTo>
                      <a:pt x="0" y="116383"/>
                    </a:lnTo>
                    <a:cubicBezTo>
                      <a:pt x="0" y="52107"/>
                      <a:pt x="52107" y="0"/>
                      <a:pt x="11638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51201" cy="2708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227240"/>
              <a:ext cx="3348045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2020-2025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4013" y="2449258"/>
            <a:ext cx="15703727" cy="7360764"/>
            <a:chOff x="0" y="0"/>
            <a:chExt cx="20938303" cy="9814352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86753" y="-1938641"/>
              <a:ext cx="23263698" cy="10944143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093830" y="-1565916"/>
              <a:ext cx="25125964" cy="13474099"/>
            </a:xfrm>
            <a:prstGeom prst="rect">
              <a:avLst/>
            </a:prstGeom>
          </p:spPr>
        </p:pic>
      </p:grpSp>
      <p:sp>
        <p:nvSpPr>
          <p:cNvPr id="14" name="Freeform 14"/>
          <p:cNvSpPr/>
          <p:nvPr/>
        </p:nvSpPr>
        <p:spPr>
          <a:xfrm>
            <a:off x="16397407" y="3640738"/>
            <a:ext cx="979246" cy="405163"/>
          </a:xfrm>
          <a:custGeom>
            <a:avLst/>
            <a:gdLst/>
            <a:ahLst/>
            <a:cxnLst/>
            <a:rect l="l" t="t" r="r" b="b"/>
            <a:pathLst>
              <a:path w="979246" h="405163">
                <a:moveTo>
                  <a:pt x="0" y="0"/>
                </a:moveTo>
                <a:lnTo>
                  <a:pt x="979246" y="0"/>
                </a:lnTo>
                <a:lnTo>
                  <a:pt x="979246" y="405163"/>
                </a:lnTo>
                <a:lnTo>
                  <a:pt x="0" y="40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594334" y="5391847"/>
            <a:ext cx="737793" cy="737793"/>
          </a:xfrm>
          <a:custGeom>
            <a:avLst/>
            <a:gdLst/>
            <a:ahLst/>
            <a:cxnLst/>
            <a:rect l="l" t="t" r="r" b="b"/>
            <a:pathLst>
              <a:path w="737793" h="737793">
                <a:moveTo>
                  <a:pt x="0" y="0"/>
                </a:moveTo>
                <a:lnTo>
                  <a:pt x="737793" y="0"/>
                </a:lnTo>
                <a:lnTo>
                  <a:pt x="737793" y="737793"/>
                </a:lnTo>
                <a:lnTo>
                  <a:pt x="0" y="737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397693" y="4310263"/>
            <a:ext cx="3073925" cy="19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0"/>
              </a:lnSpc>
              <a:spcBef>
                <a:spcPct val="0"/>
              </a:spcBef>
            </a:pPr>
            <a:r>
              <a:rPr lang="en-US" sz="1598" b="1">
                <a:solidFill>
                  <a:srgbClr val="ED5F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Promedio de Budget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50334" y="6396340"/>
            <a:ext cx="3073925" cy="19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0"/>
              </a:lnSpc>
              <a:spcBef>
                <a:spcPct val="0"/>
              </a:spcBef>
            </a:pPr>
            <a:r>
              <a:rPr lang="en-US" sz="1598" b="1">
                <a:solidFill>
                  <a:srgbClr val="00C4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Promedio de ROI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4937" y="2004396"/>
            <a:ext cx="17558126" cy="7900481"/>
            <a:chOff x="0" y="0"/>
            <a:chExt cx="5324268" cy="2395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24268" cy="2395716"/>
            </a:xfrm>
            <a:custGeom>
              <a:avLst/>
              <a:gdLst/>
              <a:ahLst/>
              <a:cxnLst/>
              <a:rect l="l" t="t" r="r" b="b"/>
              <a:pathLst>
                <a:path w="5324268" h="2395716">
                  <a:moveTo>
                    <a:pt x="25133" y="0"/>
                  </a:moveTo>
                  <a:lnTo>
                    <a:pt x="5299135" y="0"/>
                  </a:lnTo>
                  <a:cubicBezTo>
                    <a:pt x="5313016" y="0"/>
                    <a:pt x="5324268" y="11252"/>
                    <a:pt x="5324268" y="25133"/>
                  </a:cubicBezTo>
                  <a:lnTo>
                    <a:pt x="5324268" y="2370583"/>
                  </a:lnTo>
                  <a:cubicBezTo>
                    <a:pt x="5324268" y="2377249"/>
                    <a:pt x="5321621" y="2383641"/>
                    <a:pt x="5316907" y="2388354"/>
                  </a:cubicBezTo>
                  <a:cubicBezTo>
                    <a:pt x="5312194" y="2393068"/>
                    <a:pt x="5305801" y="2395716"/>
                    <a:pt x="5299135" y="2395716"/>
                  </a:cubicBezTo>
                  <a:lnTo>
                    <a:pt x="25133" y="2395716"/>
                  </a:lnTo>
                  <a:cubicBezTo>
                    <a:pt x="11252" y="2395716"/>
                    <a:pt x="0" y="2384463"/>
                    <a:pt x="0" y="2370583"/>
                  </a:cubicBezTo>
                  <a:lnTo>
                    <a:pt x="0" y="25133"/>
                  </a:lnTo>
                  <a:cubicBezTo>
                    <a:pt x="0" y="11252"/>
                    <a:pt x="11252" y="0"/>
                    <a:pt x="2513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24268" cy="2433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75997" y="858645"/>
            <a:ext cx="2511034" cy="883785"/>
            <a:chOff x="0" y="0"/>
            <a:chExt cx="3348045" cy="1178379"/>
          </a:xfrm>
        </p:grpSpPr>
        <p:grpSp>
          <p:nvGrpSpPr>
            <p:cNvPr id="6" name="Group 6"/>
            <p:cNvGrpSpPr/>
            <p:nvPr/>
          </p:nvGrpSpPr>
          <p:grpSpPr>
            <a:xfrm>
              <a:off x="25669" y="0"/>
              <a:ext cx="3296707" cy="1178379"/>
              <a:chOff x="0" y="0"/>
              <a:chExt cx="651201" cy="23276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51201" cy="232766"/>
              </a:xfrm>
              <a:custGeom>
                <a:avLst/>
                <a:gdLst/>
                <a:ahLst/>
                <a:cxnLst/>
                <a:rect l="l" t="t" r="r" b="b"/>
                <a:pathLst>
                  <a:path w="651201" h="232766">
                    <a:moveTo>
                      <a:pt x="116383" y="0"/>
                    </a:moveTo>
                    <a:lnTo>
                      <a:pt x="534818" y="0"/>
                    </a:lnTo>
                    <a:cubicBezTo>
                      <a:pt x="599095" y="0"/>
                      <a:pt x="651201" y="52107"/>
                      <a:pt x="651201" y="116383"/>
                    </a:cubicBezTo>
                    <a:lnTo>
                      <a:pt x="651201" y="116383"/>
                    </a:lnTo>
                    <a:cubicBezTo>
                      <a:pt x="651201" y="147250"/>
                      <a:pt x="638940" y="176852"/>
                      <a:pt x="617114" y="198678"/>
                    </a:cubicBezTo>
                    <a:cubicBezTo>
                      <a:pt x="595288" y="220505"/>
                      <a:pt x="565685" y="232766"/>
                      <a:pt x="534818" y="232766"/>
                    </a:cubicBezTo>
                    <a:lnTo>
                      <a:pt x="116383" y="232766"/>
                    </a:lnTo>
                    <a:cubicBezTo>
                      <a:pt x="52107" y="232766"/>
                      <a:pt x="0" y="180660"/>
                      <a:pt x="0" y="116383"/>
                    </a:cubicBezTo>
                    <a:lnTo>
                      <a:pt x="0" y="116383"/>
                    </a:lnTo>
                    <a:cubicBezTo>
                      <a:pt x="0" y="52107"/>
                      <a:pt x="52107" y="0"/>
                      <a:pt x="11638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89C0FF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651201" cy="2708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227240"/>
              <a:ext cx="3348045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89C0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2020-2025</a:t>
              </a: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3716" y="1271547"/>
            <a:ext cx="15051941" cy="9887658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3617954" y="4528027"/>
            <a:ext cx="4027120" cy="1962260"/>
            <a:chOff x="0" y="0"/>
            <a:chExt cx="5369493" cy="261634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369493" cy="2616346"/>
              <a:chOff x="0" y="0"/>
              <a:chExt cx="1103840" cy="53785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103840" cy="537859"/>
              </a:xfrm>
              <a:custGeom>
                <a:avLst/>
                <a:gdLst/>
                <a:ahLst/>
                <a:cxnLst/>
                <a:rect l="l" t="t" r="r" b="b"/>
                <a:pathLst>
                  <a:path w="1103840" h="537859">
                    <a:moveTo>
                      <a:pt x="61675" y="0"/>
                    </a:moveTo>
                    <a:lnTo>
                      <a:pt x="1042165" y="0"/>
                    </a:lnTo>
                    <a:cubicBezTo>
                      <a:pt x="1076228" y="0"/>
                      <a:pt x="1103840" y="27613"/>
                      <a:pt x="1103840" y="61675"/>
                    </a:cubicBezTo>
                    <a:lnTo>
                      <a:pt x="1103840" y="476184"/>
                    </a:lnTo>
                    <a:cubicBezTo>
                      <a:pt x="1103840" y="510246"/>
                      <a:pt x="1076228" y="537859"/>
                      <a:pt x="1042165" y="537859"/>
                    </a:cubicBezTo>
                    <a:lnTo>
                      <a:pt x="61675" y="537859"/>
                    </a:lnTo>
                    <a:cubicBezTo>
                      <a:pt x="45318" y="537859"/>
                      <a:pt x="29630" y="531361"/>
                      <a:pt x="18064" y="519795"/>
                    </a:cubicBezTo>
                    <a:cubicBezTo>
                      <a:pt x="6498" y="508228"/>
                      <a:pt x="0" y="492541"/>
                      <a:pt x="0" y="476184"/>
                    </a:cubicBezTo>
                    <a:lnTo>
                      <a:pt x="0" y="61675"/>
                    </a:lnTo>
                    <a:cubicBezTo>
                      <a:pt x="0" y="27613"/>
                      <a:pt x="27613" y="0"/>
                      <a:pt x="61675" y="0"/>
                    </a:cubicBezTo>
                    <a:close/>
                  </a:path>
                </a:pathLst>
              </a:custGeom>
              <a:solidFill>
                <a:srgbClr val="003A9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103840" cy="575959"/>
              </a:xfrm>
              <a:prstGeom prst="rect">
                <a:avLst/>
              </a:prstGeom>
            </p:spPr>
            <p:txBody>
              <a:bodyPr lIns="44123" tIns="44123" rIns="44123" bIns="44123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19642" y="1182242"/>
              <a:ext cx="2165105" cy="823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95"/>
                </a:lnSpc>
                <a:spcBef>
                  <a:spcPct val="0"/>
                </a:spcBef>
              </a:pPr>
              <a:r>
                <a:rPr lang="en-US" sz="3782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9642" y="354423"/>
              <a:ext cx="4330209" cy="507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8"/>
                </a:lnSpc>
                <a:spcBef>
                  <a:spcPct val="0"/>
                </a:spcBef>
              </a:pPr>
              <a:r>
                <a:rPr lang="en-US" sz="232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Promedio de Rating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253546" y="1308173"/>
              <a:ext cx="3113592" cy="583798"/>
            </a:xfrm>
            <a:custGeom>
              <a:avLst/>
              <a:gdLst/>
              <a:ahLst/>
              <a:cxnLst/>
              <a:rect l="l" t="t" r="r" b="b"/>
              <a:pathLst>
                <a:path w="3113592" h="583798">
                  <a:moveTo>
                    <a:pt x="0" y="0"/>
                  </a:moveTo>
                  <a:lnTo>
                    <a:pt x="3113592" y="0"/>
                  </a:lnTo>
                  <a:lnTo>
                    <a:pt x="3113592" y="583799"/>
                  </a:lnTo>
                  <a:lnTo>
                    <a:pt x="0" y="58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39080" y="247925"/>
            <a:ext cx="13388241" cy="160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59"/>
              </a:lnSpc>
              <a:spcBef>
                <a:spcPct val="0"/>
              </a:spcBef>
            </a:pPr>
            <a:r>
              <a:rPr lang="en-US" sz="93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Gráficos de reseñas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8081" y="3283063"/>
            <a:ext cx="11290625" cy="6586256"/>
            <a:chOff x="0" y="0"/>
            <a:chExt cx="15054166" cy="8781675"/>
          </a:xfrm>
        </p:grpSpPr>
        <p:grpSp>
          <p:nvGrpSpPr>
            <p:cNvPr id="3" name="Group 3"/>
            <p:cNvGrpSpPr/>
            <p:nvPr/>
          </p:nvGrpSpPr>
          <p:grpSpPr>
            <a:xfrm>
              <a:off x="9439187" y="3045606"/>
              <a:ext cx="5614979" cy="5736068"/>
              <a:chOff x="0" y="0"/>
              <a:chExt cx="817285" cy="8349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4327" y="0"/>
                <a:ext cx="788630" cy="834910"/>
              </a:xfrm>
              <a:custGeom>
                <a:avLst/>
                <a:gdLst/>
                <a:ahLst/>
                <a:cxnLst/>
                <a:rect l="l" t="t" r="r" b="b"/>
                <a:pathLst>
                  <a:path w="788630" h="834910">
                    <a:moveTo>
                      <a:pt x="519922" y="0"/>
                    </a:moveTo>
                    <a:lnTo>
                      <a:pt x="65509" y="0"/>
                    </a:lnTo>
                    <a:cubicBezTo>
                      <a:pt x="46259" y="0"/>
                      <a:pt x="28075" y="8838"/>
                      <a:pt x="16181" y="23973"/>
                    </a:cubicBezTo>
                    <a:cubicBezTo>
                      <a:pt x="4287" y="39109"/>
                      <a:pt x="0" y="58868"/>
                      <a:pt x="4552" y="77572"/>
                    </a:cubicBezTo>
                    <a:lnTo>
                      <a:pt x="169994" y="757338"/>
                    </a:lnTo>
                    <a:cubicBezTo>
                      <a:pt x="181074" y="802865"/>
                      <a:pt x="221853" y="834910"/>
                      <a:pt x="268709" y="834910"/>
                    </a:cubicBezTo>
                    <a:lnTo>
                      <a:pt x="723122" y="834910"/>
                    </a:lnTo>
                    <a:cubicBezTo>
                      <a:pt x="742372" y="834910"/>
                      <a:pt x="760556" y="826072"/>
                      <a:pt x="772450" y="810936"/>
                    </a:cubicBezTo>
                    <a:cubicBezTo>
                      <a:pt x="784344" y="795801"/>
                      <a:pt x="788631" y="776042"/>
                      <a:pt x="784078" y="757338"/>
                    </a:cubicBezTo>
                    <a:lnTo>
                      <a:pt x="618637" y="77572"/>
                    </a:lnTo>
                    <a:cubicBezTo>
                      <a:pt x="607557" y="32045"/>
                      <a:pt x="566778" y="0"/>
                      <a:pt x="519922" y="0"/>
                    </a:cubicBezTo>
                    <a:close/>
                  </a:path>
                </a:pathLst>
              </a:custGeom>
              <a:solidFill>
                <a:srgbClr val="003A9C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01600" y="-38100"/>
                <a:ext cx="614085" cy="8730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1052400" y="2135681"/>
              <a:ext cx="1194277" cy="1819851"/>
            </a:xfrm>
            <a:custGeom>
              <a:avLst/>
              <a:gdLst/>
              <a:ahLst/>
              <a:cxnLst/>
              <a:rect l="l" t="t" r="r" b="b"/>
              <a:pathLst>
                <a:path w="1194277" h="1819851">
                  <a:moveTo>
                    <a:pt x="0" y="0"/>
                  </a:moveTo>
                  <a:lnTo>
                    <a:pt x="1194277" y="0"/>
                  </a:lnTo>
                  <a:lnTo>
                    <a:pt x="1194277" y="1819851"/>
                  </a:lnTo>
                  <a:lnTo>
                    <a:pt x="0" y="1819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0" y="839798"/>
              <a:ext cx="5614979" cy="5736068"/>
              <a:chOff x="0" y="0"/>
              <a:chExt cx="817285" cy="83491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27" y="0"/>
                <a:ext cx="788630" cy="834910"/>
              </a:xfrm>
              <a:custGeom>
                <a:avLst/>
                <a:gdLst/>
                <a:ahLst/>
                <a:cxnLst/>
                <a:rect l="l" t="t" r="r" b="b"/>
                <a:pathLst>
                  <a:path w="788630" h="834910">
                    <a:moveTo>
                      <a:pt x="519922" y="0"/>
                    </a:moveTo>
                    <a:lnTo>
                      <a:pt x="65509" y="0"/>
                    </a:lnTo>
                    <a:cubicBezTo>
                      <a:pt x="46259" y="0"/>
                      <a:pt x="28075" y="8838"/>
                      <a:pt x="16181" y="23973"/>
                    </a:cubicBezTo>
                    <a:cubicBezTo>
                      <a:pt x="4287" y="39109"/>
                      <a:pt x="0" y="58868"/>
                      <a:pt x="4552" y="77572"/>
                    </a:cubicBezTo>
                    <a:lnTo>
                      <a:pt x="169994" y="757338"/>
                    </a:lnTo>
                    <a:cubicBezTo>
                      <a:pt x="181074" y="802865"/>
                      <a:pt x="221853" y="834910"/>
                      <a:pt x="268709" y="834910"/>
                    </a:cubicBezTo>
                    <a:lnTo>
                      <a:pt x="723122" y="834910"/>
                    </a:lnTo>
                    <a:cubicBezTo>
                      <a:pt x="742372" y="834910"/>
                      <a:pt x="760556" y="826072"/>
                      <a:pt x="772450" y="810936"/>
                    </a:cubicBezTo>
                    <a:cubicBezTo>
                      <a:pt x="784344" y="795801"/>
                      <a:pt x="788631" y="776042"/>
                      <a:pt x="784078" y="757338"/>
                    </a:cubicBezTo>
                    <a:lnTo>
                      <a:pt x="618637" y="77572"/>
                    </a:lnTo>
                    <a:cubicBezTo>
                      <a:pt x="607557" y="32045"/>
                      <a:pt x="566778" y="0"/>
                      <a:pt x="519922" y="0"/>
                    </a:cubicBezTo>
                    <a:close/>
                  </a:path>
                </a:pathLst>
              </a:custGeom>
              <a:solidFill>
                <a:srgbClr val="003A9C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614085" cy="8730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688282" y="0"/>
              <a:ext cx="1194277" cy="1819851"/>
            </a:xfrm>
            <a:custGeom>
              <a:avLst/>
              <a:gdLst/>
              <a:ahLst/>
              <a:cxnLst/>
              <a:rect l="l" t="t" r="r" b="b"/>
              <a:pathLst>
                <a:path w="1194277" h="1819851">
                  <a:moveTo>
                    <a:pt x="0" y="0"/>
                  </a:moveTo>
                  <a:lnTo>
                    <a:pt x="1194277" y="0"/>
                  </a:lnTo>
                  <a:lnTo>
                    <a:pt x="1194277" y="1819851"/>
                  </a:lnTo>
                  <a:lnTo>
                    <a:pt x="0" y="1819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4769447" y="1904124"/>
              <a:ext cx="5614979" cy="5736068"/>
              <a:chOff x="0" y="0"/>
              <a:chExt cx="817285" cy="83491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4327" y="0"/>
                <a:ext cx="788630" cy="834910"/>
              </a:xfrm>
              <a:custGeom>
                <a:avLst/>
                <a:gdLst/>
                <a:ahLst/>
                <a:cxnLst/>
                <a:rect l="l" t="t" r="r" b="b"/>
                <a:pathLst>
                  <a:path w="788630" h="834910">
                    <a:moveTo>
                      <a:pt x="519922" y="0"/>
                    </a:moveTo>
                    <a:lnTo>
                      <a:pt x="65509" y="0"/>
                    </a:lnTo>
                    <a:cubicBezTo>
                      <a:pt x="46259" y="0"/>
                      <a:pt x="28075" y="8838"/>
                      <a:pt x="16181" y="23973"/>
                    </a:cubicBezTo>
                    <a:cubicBezTo>
                      <a:pt x="4287" y="39109"/>
                      <a:pt x="0" y="58868"/>
                      <a:pt x="4552" y="77572"/>
                    </a:cubicBezTo>
                    <a:lnTo>
                      <a:pt x="169994" y="757338"/>
                    </a:lnTo>
                    <a:cubicBezTo>
                      <a:pt x="181074" y="802865"/>
                      <a:pt x="221853" y="834910"/>
                      <a:pt x="268709" y="834910"/>
                    </a:cubicBezTo>
                    <a:lnTo>
                      <a:pt x="723122" y="834910"/>
                    </a:lnTo>
                    <a:cubicBezTo>
                      <a:pt x="742372" y="834910"/>
                      <a:pt x="760556" y="826072"/>
                      <a:pt x="772450" y="810936"/>
                    </a:cubicBezTo>
                    <a:cubicBezTo>
                      <a:pt x="784344" y="795801"/>
                      <a:pt x="788631" y="776042"/>
                      <a:pt x="784078" y="757338"/>
                    </a:cubicBezTo>
                    <a:lnTo>
                      <a:pt x="618637" y="77572"/>
                    </a:lnTo>
                    <a:cubicBezTo>
                      <a:pt x="607557" y="32045"/>
                      <a:pt x="566778" y="0"/>
                      <a:pt x="51992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614085" cy="8730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7576936" y="6730267"/>
              <a:ext cx="1194277" cy="1819851"/>
            </a:xfrm>
            <a:custGeom>
              <a:avLst/>
              <a:gdLst/>
              <a:ahLst/>
              <a:cxnLst/>
              <a:rect l="l" t="t" r="r" b="b"/>
              <a:pathLst>
                <a:path w="1194277" h="1819851">
                  <a:moveTo>
                    <a:pt x="0" y="0"/>
                  </a:moveTo>
                  <a:lnTo>
                    <a:pt x="1194277" y="0"/>
                  </a:lnTo>
                  <a:lnTo>
                    <a:pt x="1194277" y="1819850"/>
                  </a:lnTo>
                  <a:lnTo>
                    <a:pt x="0" y="181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711811"/>
            <a:ext cx="14284021" cy="1543050"/>
            <a:chOff x="0" y="0"/>
            <a:chExt cx="3762047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62047" cy="406400"/>
            </a:xfrm>
            <a:custGeom>
              <a:avLst/>
              <a:gdLst/>
              <a:ahLst/>
              <a:cxnLst/>
              <a:rect l="l" t="t" r="r" b="b"/>
              <a:pathLst>
                <a:path w="3762047" h="406400">
                  <a:moveTo>
                    <a:pt x="355884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558847" y="406400"/>
                  </a:lnTo>
                  <a:lnTo>
                    <a:pt x="3762047" y="203200"/>
                  </a:lnTo>
                  <a:lnTo>
                    <a:pt x="3558847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64774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23925" y="1080049"/>
            <a:ext cx="10410518" cy="1021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5"/>
              </a:lnSpc>
              <a:spcBef>
                <a:spcPct val="0"/>
              </a:spcBef>
            </a:pPr>
            <a:r>
              <a:rPr lang="en-US" sz="79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Conclusiones / Insights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9724" y="2542708"/>
            <a:ext cx="5556219" cy="5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5"/>
              </a:lnSpc>
            </a:pPr>
            <a:r>
              <a:rPr lang="en-US" sz="3304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Para concluir se obtuvo que: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53493" y="6797040"/>
            <a:ext cx="2949578" cy="230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Priorizar mejoras usando comentarios de menor puntuación.</a:t>
            </a:r>
          </a:p>
          <a:p>
            <a:pPr algn="ctr">
              <a:lnSpc>
                <a:spcPts val="3030"/>
              </a:lnSpc>
            </a:pPr>
            <a:endParaRPr lang="en-US" sz="300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949578" y="5760720"/>
            <a:ext cx="2827631" cy="268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Redirigir los recursos de los medios tradicionales para un mejor ROI</a:t>
            </a:r>
          </a:p>
          <a:p>
            <a:pPr algn="ctr">
              <a:lnSpc>
                <a:spcPts val="3030"/>
              </a:lnSpc>
            </a:pPr>
            <a:endParaRPr lang="en-US" sz="3000">
              <a:solidFill>
                <a:srgbClr val="0F439B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255981" y="5200650"/>
            <a:ext cx="3027686" cy="1920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Los pagos digitales son la segunda opción preferida.</a:t>
            </a:r>
          </a:p>
          <a:p>
            <a:pPr algn="ctr">
              <a:lnSpc>
                <a:spcPts val="3030"/>
              </a:lnSpc>
            </a:pPr>
            <a:endParaRPr lang="en-US" sz="300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&amp; Transaction</dc:title>
  <cp:lastModifiedBy>Kenneth García</cp:lastModifiedBy>
  <cp:revision>2</cp:revision>
  <dcterms:created xsi:type="dcterms:W3CDTF">2006-08-16T00:00:00Z</dcterms:created>
  <dcterms:modified xsi:type="dcterms:W3CDTF">2025-08-23T14:01:11Z</dcterms:modified>
  <dc:identifier>DAGwwv_foBM</dc:identifier>
</cp:coreProperties>
</file>